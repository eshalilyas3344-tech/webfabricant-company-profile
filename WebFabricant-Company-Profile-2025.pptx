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1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1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</a:rPr>
              <a:t>WebFabricant Limited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960120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11233D"/>
                </a:solidFill>
              </a:rPr>
              <a:t>Custom Software Engineering</a:t>
            </a:r>
          </a:p>
          <a:p>
            <a:pPr>
              <a:defRPr sz="2400">
                <a:solidFill>
                  <a:srgbClr val="5E6A78"/>
                </a:solidFill>
              </a:defRPr>
            </a:pPr>
            <a:r>
              <a:t>Professional Company Profile | 2025</a:t>
            </a:r>
          </a:p>
          <a:p>
            <a:pPr>
              <a:defRPr sz="2200" b="1">
                <a:solidFill>
                  <a:srgbClr val="00A699"/>
                </a:solidFill>
              </a:defRPr>
            </a:pPr>
            <a:r>
              <a:t>Tender Submission Ready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0" y="1463040"/>
            <a:ext cx="2743200" cy="4389120"/>
          </a:xfrm>
          <a:prstGeom prst="rect">
            <a:avLst/>
          </a:prstGeom>
          <a:solidFill>
            <a:srgbClr val="1C7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600" b="1">
                <a:solidFill>
                  <a:srgbClr val="FFFFFF"/>
                </a:solidFill>
              </a:rPr>
              <a:t>Web</a:t>
            </a:r>
          </a:p>
          <a:p>
            <a:r>
              <a:rPr sz="3600" b="1">
                <a:solidFill>
                  <a:srgbClr val="FFFFFF"/>
                </a:solidFill>
              </a:rPr>
              <a:t>Fabricant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1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1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</a:rPr>
              <a:t>Core Capabilities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972800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11233D"/>
                </a:solidFill>
              </a:defRPr>
            </a:pPr>
            <a:r>
              <a:t>Full-Stack Web Application Engineering</a:t>
            </a:r>
          </a:p>
          <a:p>
            <a:pPr>
              <a:spcAft>
                <a:spcPts val="1200"/>
              </a:spcAft>
              <a:defRPr sz="2000">
                <a:solidFill>
                  <a:srgbClr val="11233D"/>
                </a:solidFill>
              </a:defRPr>
            </a:pPr>
            <a:r>
              <a:t>Workflow Automation and Process Digitization</a:t>
            </a:r>
          </a:p>
          <a:p>
            <a:pPr>
              <a:spcAft>
                <a:spcPts val="1200"/>
              </a:spcAft>
              <a:defRPr sz="2000">
                <a:solidFill>
                  <a:srgbClr val="11233D"/>
                </a:solidFill>
              </a:defRPr>
            </a:pPr>
            <a:r>
              <a:t>API Integrations and Legacy System Modernization</a:t>
            </a:r>
          </a:p>
          <a:p>
            <a:pPr>
              <a:spcAft>
                <a:spcPts val="1200"/>
              </a:spcAft>
              <a:defRPr sz="2000">
                <a:solidFill>
                  <a:srgbClr val="11233D"/>
                </a:solidFill>
              </a:defRPr>
            </a:pPr>
            <a:r>
              <a:t>Scalable Product Development for SMEs and Enterprises</a:t>
            </a:r>
          </a:p>
          <a:p>
            <a:pPr>
              <a:spcAft>
                <a:spcPts val="1200"/>
              </a:spcAft>
              <a:defRPr sz="2000">
                <a:solidFill>
                  <a:srgbClr val="11233D"/>
                </a:solidFill>
              </a:defRPr>
            </a:pPr>
            <a:r>
              <a:t>Managed Support, Maintenance, and Continuous Improvement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1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1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</a:rPr>
              <a:t>Technology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80160"/>
            <a:ext cx="5303520" cy="2011680"/>
          </a:xfrm>
          <a:prstGeom prst="rect">
            <a:avLst/>
          </a:prstGeom>
          <a:solidFill>
            <a:srgbClr val="FFFFFF"/>
          </a:solidFill>
          <a:ln>
            <a:solidFill>
              <a:srgbClr val="D2DC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1C72E8"/>
                </a:solidFill>
              </a:defRPr>
            </a:pPr>
            <a:r>
              <a:t>React</a:t>
            </a:r>
          </a:p>
          <a:p>
            <a:pPr>
              <a:defRPr sz="1600">
                <a:solidFill>
                  <a:srgbClr val="11233D"/>
                </a:solidFill>
              </a:defRPr>
            </a:pPr>
            <a:r>
              <a:t>Modern front-end development for dynamic web apps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92240" y="1280160"/>
            <a:ext cx="5303520" cy="2011680"/>
          </a:xfrm>
          <a:prstGeom prst="rect">
            <a:avLst/>
          </a:prstGeom>
          <a:solidFill>
            <a:srgbClr val="FFFFFF"/>
          </a:solidFill>
          <a:ln>
            <a:solidFill>
              <a:srgbClr val="D2DC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1C72E8"/>
                </a:solidFill>
              </a:defRPr>
            </a:pPr>
            <a:r>
              <a:t>Laravel</a:t>
            </a:r>
          </a:p>
          <a:p>
            <a:pPr>
              <a:defRPr sz="1600">
                <a:solidFill>
                  <a:srgbClr val="11233D"/>
                </a:solidFill>
              </a:defRPr>
            </a:pPr>
            <a:r>
              <a:t>Robust backend architecture and enterprise APIs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657600"/>
            <a:ext cx="5303520" cy="2011680"/>
          </a:xfrm>
          <a:prstGeom prst="rect">
            <a:avLst/>
          </a:prstGeom>
          <a:solidFill>
            <a:srgbClr val="FFFFFF"/>
          </a:solidFill>
          <a:ln>
            <a:solidFill>
              <a:srgbClr val="D2DC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1C72E8"/>
                </a:solidFill>
              </a:defRPr>
            </a:pPr>
            <a:r>
              <a:t>n8n</a:t>
            </a:r>
          </a:p>
          <a:p>
            <a:pPr>
              <a:defRPr sz="1600">
                <a:solidFill>
                  <a:srgbClr val="11233D"/>
                </a:solidFill>
              </a:defRPr>
            </a:pPr>
            <a:r>
              <a:t>Open automation workflows for internal operations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0" y="3657600"/>
            <a:ext cx="5303520" cy="2011680"/>
          </a:xfrm>
          <a:prstGeom prst="rect">
            <a:avLst/>
          </a:prstGeom>
          <a:solidFill>
            <a:srgbClr val="FFFFFF"/>
          </a:solidFill>
          <a:ln>
            <a:solidFill>
              <a:srgbClr val="D2DC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1C72E8"/>
                </a:solidFill>
              </a:defRPr>
            </a:pPr>
            <a:r>
              <a:t>Make.com</a:t>
            </a:r>
          </a:p>
          <a:p>
            <a:pPr>
              <a:defRPr sz="1600">
                <a:solidFill>
                  <a:srgbClr val="11233D"/>
                </a:solidFill>
              </a:defRPr>
            </a:pPr>
            <a:r>
              <a:t>Rapid no-code/low-code process orchestration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1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1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</a:rPr>
              <a:t>Delivery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C72E8"/>
                </a:solidFill>
              </a:rPr>
              <a:t>Operating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5303520" cy="4617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11233D"/>
                </a:solidFill>
              </a:defRPr>
            </a:pPr>
            <a:r>
              <a:t>UK Director-led stakeholder communication</a:t>
            </a:r>
          </a:p>
          <a:p>
            <a:pPr>
              <a:spcAft>
                <a:spcPts val="1200"/>
              </a:spcAft>
              <a:defRPr sz="2000">
                <a:solidFill>
                  <a:srgbClr val="11233D"/>
                </a:solidFill>
              </a:defRPr>
            </a:pPr>
            <a:r>
              <a:t>Offshore engineering pod for cost-efficient execution</a:t>
            </a:r>
          </a:p>
          <a:p>
            <a:pPr>
              <a:spcAft>
                <a:spcPts val="1200"/>
              </a:spcAft>
              <a:defRPr sz="2000">
                <a:solidFill>
                  <a:srgbClr val="11233D"/>
                </a:solidFill>
              </a:defRPr>
            </a:pPr>
            <a:r>
              <a:t>Structured sprint planning and progress transparency</a:t>
            </a:r>
          </a:p>
          <a:p>
            <a:pPr>
              <a:spcAft>
                <a:spcPts val="1200"/>
              </a:spcAft>
              <a:defRPr sz="2000">
                <a:solidFill>
                  <a:srgbClr val="11233D"/>
                </a:solidFill>
              </a:defRPr>
            </a:pPr>
            <a:r>
              <a:t>Multi-stage QA: unit, integration, and UAT readiness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C72E8"/>
                </a:solidFill>
              </a:rPr>
              <a:t>Governance &amp; QA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4846320" cy="4617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11233D"/>
                </a:solidFill>
              </a:defRPr>
            </a:pPr>
            <a:r>
              <a:t>Single accountable business point of contact (UK)</a:t>
            </a:r>
          </a:p>
          <a:p>
            <a:pPr>
              <a:spcAft>
                <a:spcPts val="1200"/>
              </a:spcAft>
              <a:defRPr sz="2000">
                <a:solidFill>
                  <a:srgbClr val="11233D"/>
                </a:solidFill>
              </a:defRPr>
            </a:pPr>
            <a:r>
              <a:t>Time-zone overlap for rapid response and iteration</a:t>
            </a:r>
          </a:p>
          <a:p>
            <a:pPr>
              <a:spcAft>
                <a:spcPts val="1200"/>
              </a:spcAft>
              <a:defRPr sz="2000">
                <a:solidFill>
                  <a:srgbClr val="11233D"/>
                </a:solidFill>
              </a:defRPr>
            </a:pPr>
            <a:r>
              <a:t>Documented handover and compliance-ready reporting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1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1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</a:rPr>
              <a:t>Data Sovereignty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1097280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11233D"/>
                </a:solidFill>
              </a:defRPr>
            </a:pPr>
            <a:r>
              <a:t>Primary hosting architecture based on AWS London region</a:t>
            </a:r>
          </a:p>
          <a:p>
            <a:pPr>
              <a:spcAft>
                <a:spcPts val="1200"/>
              </a:spcAft>
              <a:defRPr sz="2000">
                <a:solidFill>
                  <a:srgbClr val="11233D"/>
                </a:solidFill>
              </a:defRPr>
            </a:pPr>
            <a:r>
              <a:t>UK/EU infrastructure options aligned to client policy needs</a:t>
            </a:r>
          </a:p>
          <a:p>
            <a:pPr>
              <a:spcAft>
                <a:spcPts val="1200"/>
              </a:spcAft>
              <a:defRPr sz="2000">
                <a:solidFill>
                  <a:srgbClr val="11233D"/>
                </a:solidFill>
              </a:defRPr>
            </a:pPr>
            <a:r>
              <a:t>Access control, audit logging, and encrypted data workflows</a:t>
            </a:r>
          </a:p>
          <a:p>
            <a:pPr>
              <a:spcAft>
                <a:spcPts val="1200"/>
              </a:spcAft>
              <a:defRPr sz="2000">
                <a:solidFill>
                  <a:srgbClr val="11233D"/>
                </a:solidFill>
              </a:defRPr>
            </a:pPr>
            <a:r>
              <a:t>Data residency planning suitable for public-sector procurement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1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1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</a:rPr>
              <a:t>Case Studies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188720"/>
            <a:ext cx="10881360" cy="1417320"/>
          </a:xfrm>
          <a:prstGeom prst="rect">
            <a:avLst/>
          </a:prstGeom>
          <a:solidFill>
            <a:srgbClr val="FFFFFF"/>
          </a:solidFill>
          <a:ln>
            <a:solidFill>
              <a:srgbClr val="D2DC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C72E8"/>
                </a:solidFill>
              </a:defRPr>
            </a:pPr>
            <a:r>
              <a:t>1) Field Service Operations Portal</a:t>
            </a:r>
          </a:p>
          <a:p>
            <a:pPr>
              <a:defRPr sz="1400">
                <a:solidFill>
                  <a:srgbClr val="11233D"/>
                </a:solidFill>
              </a:defRPr>
            </a:pPr>
            <a:r>
              <a:t>Built a React + Laravel platform to manage nationwide technician scheduling, reducing ticket resolution time by 37%.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926080"/>
            <a:ext cx="10881360" cy="1417320"/>
          </a:xfrm>
          <a:prstGeom prst="rect">
            <a:avLst/>
          </a:prstGeom>
          <a:solidFill>
            <a:srgbClr val="FFFFFF"/>
          </a:solidFill>
          <a:ln>
            <a:solidFill>
              <a:srgbClr val="D2DC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C72E8"/>
                </a:solidFill>
              </a:defRPr>
            </a:pPr>
            <a:r>
              <a:t>2) Finance Workflow Automation</a:t>
            </a:r>
          </a:p>
          <a:p>
            <a:pPr>
              <a:defRPr sz="1400">
                <a:solidFill>
                  <a:srgbClr val="11233D"/>
                </a:solidFill>
              </a:defRPr>
            </a:pPr>
            <a:r>
              <a:t>Implemented n8n and Make.com automations connecting CRM, billing, and notifications; cut manual processing by 60%.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663440"/>
            <a:ext cx="10881360" cy="1417320"/>
          </a:xfrm>
          <a:prstGeom prst="rect">
            <a:avLst/>
          </a:prstGeom>
          <a:solidFill>
            <a:srgbClr val="FFFFFF"/>
          </a:solidFill>
          <a:ln>
            <a:solidFill>
              <a:srgbClr val="D2DC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C72E8"/>
                </a:solidFill>
              </a:defRPr>
            </a:pPr>
            <a:r>
              <a:t>3) Procurement Compliance Dashboard</a:t>
            </a:r>
          </a:p>
          <a:p>
            <a:pPr>
              <a:defRPr sz="1400">
                <a:solidFill>
                  <a:srgbClr val="11233D"/>
                </a:solidFill>
              </a:defRPr>
            </a:pPr>
            <a:r>
              <a:t>Delivered a centralized reporting suite for audit trails, SLA monitoring, and supplier governance for UK-focused teams.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1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1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</a:rPr>
              <a:t>Team &amp; Contact 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C72E8"/>
                </a:solidFill>
              </a:rPr>
              <a:t>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5760720" cy="4617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11233D"/>
                </a:solidFill>
              </a:defRPr>
            </a:pPr>
            <a:r>
              <a:t>UK Director: Client engagement and delivery oversight</a:t>
            </a:r>
          </a:p>
          <a:p>
            <a:pPr>
              <a:spcAft>
                <a:spcPts val="1200"/>
              </a:spcAft>
              <a:defRPr sz="2000">
                <a:solidFill>
                  <a:srgbClr val="11233D"/>
                </a:solidFill>
              </a:defRPr>
            </a:pPr>
            <a:r>
              <a:t>Engineering Team: Full-stack developers, automation specialists</a:t>
            </a:r>
          </a:p>
          <a:p>
            <a:pPr>
              <a:spcAft>
                <a:spcPts val="1200"/>
              </a:spcAft>
              <a:defRPr sz="2000">
                <a:solidFill>
                  <a:srgbClr val="11233D"/>
                </a:solidFill>
              </a:defRPr>
            </a:pPr>
            <a:r>
              <a:t>QA Team: Validation, test planning, and release assurance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11887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C72E8"/>
                </a:solidFill>
              </a:rPr>
              <a:t>Contact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600200"/>
            <a:ext cx="4572000" cy="4617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11233D"/>
                </a:solidFill>
              </a:defRPr>
            </a:pPr>
            <a:r>
              <a:t>WebFabricant Limited</a:t>
            </a:r>
          </a:p>
          <a:p>
            <a:pPr>
              <a:spcAft>
                <a:spcPts val="1200"/>
              </a:spcAft>
              <a:defRPr sz="2000">
                <a:solidFill>
                  <a:srgbClr val="11233D"/>
                </a:solidFill>
              </a:defRPr>
            </a:pPr>
            <a:r>
              <a:t>Email: hello@webfabricant.com</a:t>
            </a:r>
          </a:p>
          <a:p>
            <a:pPr>
              <a:spcAft>
                <a:spcPts val="1200"/>
              </a:spcAft>
              <a:defRPr sz="2000">
                <a:solidFill>
                  <a:srgbClr val="11233D"/>
                </a:solidFill>
              </a:defRPr>
            </a:pPr>
            <a:r>
              <a:t>Website: www.webfabricant.com</a:t>
            </a:r>
          </a:p>
          <a:p>
            <a:pPr>
              <a:spcAft>
                <a:spcPts val="1200"/>
              </a:spcAft>
              <a:defRPr sz="2000">
                <a:solidFill>
                  <a:srgbClr val="11233D"/>
                </a:solidFill>
              </a:defRPr>
            </a:pPr>
            <a:r>
              <a:t>Service Coverage: UK and international clients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1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1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</a:rPr>
              <a:t>Call to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78992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1233D"/>
                </a:solidFill>
              </a:defRPr>
            </a:pPr>
            <a:r>
              <a:t>Let's Build Your Next Digital Advantage</a:t>
            </a:r>
          </a:p>
          <a:p>
            <a:pPr>
              <a:defRPr sz="2100">
                <a:solidFill>
                  <a:srgbClr val="5E6A78"/>
                </a:solidFill>
              </a:defRPr>
            </a:pPr>
            <a:r>
              <a:t>Partner with WebFabricant Limited for reliable, scalable, and tender-ready software delivery.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4389120"/>
            <a:ext cx="3931920" cy="914400"/>
          </a:xfrm>
          <a:prstGeom prst="rect">
            <a:avLst/>
          </a:prstGeom>
          <a:solidFill>
            <a:srgbClr val="00A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Book a Discovery Call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